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  <p:sldMasterId id="2147483685" r:id="rId2"/>
  </p:sldMasterIdLst>
  <p:notesMasterIdLst>
    <p:notesMasterId r:id="rId4"/>
  </p:notesMasterIdLst>
  <p:handoutMasterIdLst>
    <p:handoutMasterId r:id="rId5"/>
  </p:handoutMasterIdLst>
  <p:sldIdLst>
    <p:sldId id="1697" r:id="rId3"/>
  </p:sldIdLst>
  <p:sldSz cx="12192000" cy="6858000"/>
  <p:notesSz cx="6645275" cy="97758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9F755AD-DFA8-4BD7-9F3F-BD24BB5C06B5}">
          <p14:sldIdLst/>
        </p14:section>
        <p14:section name="Eng" id="{9E9F65FE-BD7F-4AB5-BDAA-6D0D7E3E7258}">
          <p14:sldIdLst>
            <p14:sldId id="169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lcolm Smit" initials="MS" lastIdx="1" clrIdx="0">
    <p:extLst>
      <p:ext uri="{19B8F6BF-5375-455C-9EA6-DF929625EA0E}">
        <p15:presenceInfo xmlns:p15="http://schemas.microsoft.com/office/powerpoint/2012/main" userId="S-1-5-21-2738270375-1332596784-1822595390-230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0000"/>
    <a:srgbClr val="DD0184"/>
    <a:srgbClr val="FC34AB"/>
    <a:srgbClr val="00CC00"/>
    <a:srgbClr val="E9EBF5"/>
    <a:srgbClr val="00FF00"/>
    <a:srgbClr val="339933"/>
    <a:srgbClr val="CFD5EA"/>
    <a:srgbClr val="D600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332" autoAdjust="0"/>
  </p:normalViewPr>
  <p:slideViewPr>
    <p:cSldViewPr snapToGrid="0">
      <p:cViewPr varScale="1">
        <p:scale>
          <a:sx n="74" d="100"/>
          <a:sy n="74" d="100"/>
        </p:scale>
        <p:origin x="72" y="254"/>
      </p:cViewPr>
      <p:guideLst/>
    </p:cSldViewPr>
  </p:slideViewPr>
  <p:outlineViewPr>
    <p:cViewPr>
      <p:scale>
        <a:sx n="33" d="100"/>
        <a:sy n="33" d="100"/>
      </p:scale>
      <p:origin x="0" y="-754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commentAuthors" Target="commentAuthors.xml"/><Relationship Id="rId5" Type="http://schemas.openxmlformats.org/officeDocument/2006/relationships/handoutMaster" Target="handoutMasters/handoutMaster1.xml"/><Relationship Id="rId1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879831" cy="490458"/>
          </a:xfrm>
          <a:prstGeom prst="rect">
            <a:avLst/>
          </a:prstGeom>
        </p:spPr>
        <p:txBody>
          <a:bodyPr vert="horz" lIns="91255" tIns="45627" rIns="91255" bIns="45627" rtlCol="0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63864" y="1"/>
            <a:ext cx="2879831" cy="490458"/>
          </a:xfrm>
          <a:prstGeom prst="rect">
            <a:avLst/>
          </a:prstGeom>
        </p:spPr>
        <p:txBody>
          <a:bodyPr vert="horz" lIns="91255" tIns="45627" rIns="91255" bIns="45627" rtlCol="0"/>
          <a:lstStyle>
            <a:lvl1pPr algn="r">
              <a:defRPr sz="1200"/>
            </a:lvl1pPr>
          </a:lstStyle>
          <a:p>
            <a:fld id="{D856F2D1-30CC-4702-9920-5C4AA13CCE8C}" type="datetimeFigureOut">
              <a:rPr lang="en-ZA" smtClean="0"/>
              <a:t>2025/12/08</a:t>
            </a:fld>
            <a:endParaRPr lang="en-Z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285367"/>
            <a:ext cx="2879831" cy="490458"/>
          </a:xfrm>
          <a:prstGeom prst="rect">
            <a:avLst/>
          </a:prstGeom>
        </p:spPr>
        <p:txBody>
          <a:bodyPr vert="horz" lIns="91255" tIns="45627" rIns="91255" bIns="45627" rtlCol="0" anchor="b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63864" y="9285367"/>
            <a:ext cx="2879831" cy="490458"/>
          </a:xfrm>
          <a:prstGeom prst="rect">
            <a:avLst/>
          </a:prstGeom>
        </p:spPr>
        <p:txBody>
          <a:bodyPr vert="horz" lIns="91255" tIns="45627" rIns="91255" bIns="45627" rtlCol="0" anchor="b"/>
          <a:lstStyle>
            <a:lvl1pPr algn="r">
              <a:defRPr sz="1200"/>
            </a:lvl1pPr>
          </a:lstStyle>
          <a:p>
            <a:fld id="{D5D6B2EB-508E-4284-817C-C6B4EEB37901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65368098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879619" cy="490489"/>
          </a:xfrm>
          <a:prstGeom prst="rect">
            <a:avLst/>
          </a:prstGeom>
        </p:spPr>
        <p:txBody>
          <a:bodyPr vert="horz" lIns="91255" tIns="45627" rIns="91255" bIns="45627" rtlCol="0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64121" y="4"/>
            <a:ext cx="2879619" cy="490489"/>
          </a:xfrm>
          <a:prstGeom prst="rect">
            <a:avLst/>
          </a:prstGeom>
        </p:spPr>
        <p:txBody>
          <a:bodyPr vert="horz" lIns="91255" tIns="45627" rIns="91255" bIns="45627" rtlCol="0"/>
          <a:lstStyle>
            <a:lvl1pPr algn="r">
              <a:defRPr sz="1200"/>
            </a:lvl1pPr>
          </a:lstStyle>
          <a:p>
            <a:fld id="{6C816668-045D-4A89-9E63-5B0E3CBE2ADC}" type="datetimeFigureOut">
              <a:rPr lang="en-ZA" smtClean="0"/>
              <a:t>2025/12/08</a:t>
            </a:fld>
            <a:endParaRPr lang="en-ZA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8938" y="1222375"/>
            <a:ext cx="5867400" cy="33004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255" tIns="45627" rIns="91255" bIns="45627" rtlCol="0" anchor="ctr"/>
          <a:lstStyle/>
          <a:p>
            <a:endParaRPr lang="en-ZA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4528" y="4704618"/>
            <a:ext cx="5316220" cy="3849231"/>
          </a:xfrm>
          <a:prstGeom prst="rect">
            <a:avLst/>
          </a:prstGeom>
        </p:spPr>
        <p:txBody>
          <a:bodyPr vert="horz" lIns="91255" tIns="45627" rIns="91255" bIns="45627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285339"/>
            <a:ext cx="2879619" cy="490488"/>
          </a:xfrm>
          <a:prstGeom prst="rect">
            <a:avLst/>
          </a:prstGeom>
        </p:spPr>
        <p:txBody>
          <a:bodyPr vert="horz" lIns="91255" tIns="45627" rIns="91255" bIns="45627" rtlCol="0" anchor="b"/>
          <a:lstStyle>
            <a:lvl1pPr algn="l">
              <a:defRPr sz="1200"/>
            </a:lvl1pPr>
          </a:lstStyle>
          <a:p>
            <a:endParaRPr lang="en-ZA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64121" y="9285339"/>
            <a:ext cx="2879619" cy="490488"/>
          </a:xfrm>
          <a:prstGeom prst="rect">
            <a:avLst/>
          </a:prstGeom>
        </p:spPr>
        <p:txBody>
          <a:bodyPr vert="horz" lIns="91255" tIns="45627" rIns="91255" bIns="45627" rtlCol="0" anchor="b"/>
          <a:lstStyle>
            <a:lvl1pPr algn="r">
              <a:defRPr sz="1200"/>
            </a:lvl1pPr>
          </a:lstStyle>
          <a:p>
            <a:fld id="{CEB5EEEE-4384-40B0-93DA-631FD1C76CAA}" type="slidenum">
              <a:rPr lang="en-ZA" smtClean="0"/>
              <a:t>‹#›</a:t>
            </a:fld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67830686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B9F72BB-4468-4A06-A2D1-7C3EA5DA65DB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2025/12/08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0750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862D2AD-1E63-4177-B4AE-4B6658454808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2025/12/08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7238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3F7747-C05A-40FD-B8BD-32741BAEECD0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2025/12/08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0645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0C36012-1117-4B4D-BA4F-08D8C6D029F4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2025/12/08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7402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2F7CD3-FCB9-4AAC-819F-6AD549EB6F13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2025/12/08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62898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63DD486-1533-4ABF-AF5C-00B9CA26AF51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2025/12/08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2622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DA8F0B9-07C2-407B-A229-1FFF8B72CF24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2025/12/08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7403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7A34F2-C09C-47D7-819B-8567BA6F37E2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2025/12/08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0585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C32490-3A86-4D5C-8282-C1782A9D6AEB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2025/12/08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3094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9A9801C-6BF9-4C5C-989E-9373643D0704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2025/12/08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9026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B0B402E-6CF9-465F-804C-0936A6B6601B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2025/12/08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81682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7160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8720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6128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5140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6174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0966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3174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0726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6512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1859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303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4BA2CB5-FB29-4BCC-9A9D-2F6C008BD2BE}" type="datetime1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2025/12/08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4C7F00-F4B4-4DB2-BF73-59DD97676F3D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Z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6723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311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NCBLKRK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1589"/>
            <a:ext cx="1296039" cy="815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8055389"/>
              </p:ext>
            </p:extLst>
          </p:nvPr>
        </p:nvGraphicFramePr>
        <p:xfrm>
          <a:off x="104970" y="898128"/>
          <a:ext cx="11388911" cy="57797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6294">
                  <a:extLst>
                    <a:ext uri="{9D8B030D-6E8A-4147-A177-3AD203B41FA5}">
                      <a16:colId xmlns:a16="http://schemas.microsoft.com/office/drawing/2014/main" val="183856178"/>
                    </a:ext>
                  </a:extLst>
                </a:gridCol>
                <a:gridCol w="5992617">
                  <a:extLst>
                    <a:ext uri="{9D8B030D-6E8A-4147-A177-3AD203B41FA5}">
                      <a16:colId xmlns:a16="http://schemas.microsoft.com/office/drawing/2014/main" val="3550448731"/>
                    </a:ext>
                  </a:extLst>
                </a:gridCol>
              </a:tblGrid>
              <a:tr h="442299">
                <a:tc>
                  <a:txBody>
                    <a:bodyPr/>
                    <a:lstStyle/>
                    <a:p>
                      <a:r>
                        <a:rPr lang="en-ZA" sz="1800" b="1" dirty="0"/>
                        <a:t>Highlight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ZA" sz="1800" b="1" dirty="0"/>
                        <a:t>Lowlight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470639"/>
                  </a:ext>
                </a:extLst>
              </a:tr>
              <a:tr h="3371881">
                <a:tc>
                  <a:txBody>
                    <a:bodyPr/>
                    <a:lstStyle/>
                    <a:p>
                      <a:pPr marL="228600" indent="-228600">
                        <a:buAutoNum type="arabicPeriod"/>
                      </a:pPr>
                      <a:r>
                        <a:rPr lang="en-GB" sz="1200" b="1" dirty="0"/>
                        <a:t>Fleet Availability</a:t>
                      </a:r>
                      <a:r>
                        <a:rPr lang="en-GB" sz="1200" dirty="0"/>
                        <a:t>: Continued improvement on fleet availability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GB" sz="1200" b="1" dirty="0"/>
                        <a:t>Monthly Production: </a:t>
                      </a:r>
                      <a:r>
                        <a:rPr lang="en-GB" sz="1200" b="0" dirty="0"/>
                        <a:t>Best performance for N3 shaft for this 20025/26 financial year,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GB" sz="1200" b="1" dirty="0"/>
                        <a:t>BEV Satellite Chargers:</a:t>
                      </a:r>
                      <a:r>
                        <a:rPr lang="en-GB" sz="1200" b="0" dirty="0"/>
                        <a:t> Relocated both chargers and connected the North Section charger (Successfully tested)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GB" sz="1200" b="1" dirty="0"/>
                        <a:t>Plant: </a:t>
                      </a:r>
                      <a:r>
                        <a:rPr lang="en-GB" sz="1200" b="0" dirty="0"/>
                        <a:t>Successfully replaced 6 of the 8 mechanical conveyor belts splices in the old plant belt stream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GB" sz="1200" b="1" dirty="0"/>
                        <a:t>Equipment</a:t>
                      </a:r>
                      <a:r>
                        <a:rPr lang="en-GB" sz="1200" b="0" dirty="0"/>
                        <a:t>: HD 0070 (New) delivered on site – 04 December 2025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GB" sz="1200" b="1" dirty="0"/>
                    </a:p>
                    <a:p>
                      <a:pPr marL="0" indent="0">
                        <a:buNone/>
                      </a:pPr>
                      <a:endParaRPr lang="en-GB" sz="1200" dirty="0"/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GB" sz="1200" b="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sz="1200" b="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685783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sz="1200" b="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eriod"/>
                      </a:pPr>
                      <a:r>
                        <a:rPr lang="en-GB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Hammer: </a:t>
                      </a:r>
                      <a:r>
                        <a:rPr lang="en-GB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Ordered new boom stick only to be delivered this coming</a:t>
                      </a:r>
                    </a:p>
                    <a:p>
                      <a:pPr marL="228600" indent="-228600">
                        <a:buAutoNum type="arabicPeriod"/>
                      </a:pPr>
                      <a:r>
                        <a:rPr lang="en-GB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People: </a:t>
                      </a:r>
                      <a:r>
                        <a:rPr lang="en-GB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Attendance to work not slow improvement</a:t>
                      </a:r>
                      <a:endParaRPr lang="en-ZA" sz="1200" b="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208375"/>
                  </a:ext>
                </a:extLst>
              </a:tr>
              <a:tr h="374403">
                <a:tc>
                  <a:txBody>
                    <a:bodyPr/>
                    <a:lstStyle/>
                    <a:p>
                      <a:r>
                        <a:rPr lang="en-ZA" sz="1800" b="0" dirty="0"/>
                        <a:t>Emerging Issues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0" dirty="0"/>
                        <a:t>Priorities</a:t>
                      </a:r>
                      <a:endParaRPr lang="en-ZA" sz="1800" b="0" dirty="0"/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2739383"/>
                  </a:ext>
                </a:extLst>
              </a:tr>
              <a:tr h="1591212"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GB" sz="1200" b="1" dirty="0"/>
                        <a:t>CAS L9: </a:t>
                      </a:r>
                      <a:r>
                        <a:rPr lang="en-GB" sz="1200" b="0" dirty="0"/>
                        <a:t>Installation on o LD’s and UV’s impacting productivity (Reliability of system)</a:t>
                      </a:r>
                    </a:p>
                    <a:p>
                      <a:pPr marL="228600" marR="0" lvl="0" indent="-22860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GB" sz="1200" b="1" dirty="0"/>
                        <a:t>Compliance: </a:t>
                      </a:r>
                      <a:r>
                        <a:rPr lang="en-GB" sz="1200" b="0" dirty="0"/>
                        <a:t>Mining operator work attendance challenges impacting maintenance schedule.</a:t>
                      </a:r>
                      <a:endParaRPr lang="en-GB" sz="1200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>
                        <a:buAutoNum type="arabicPeriod"/>
                      </a:pPr>
                      <a:r>
                        <a:rPr lang="en-GB" sz="1200" b="1" dirty="0"/>
                        <a:t>CAS L9 Implementation: </a:t>
                      </a:r>
                      <a:r>
                        <a:rPr lang="en-GB" sz="1200" dirty="0"/>
                        <a:t>Complete implementation to meet the </a:t>
                      </a:r>
                      <a:r>
                        <a:rPr lang="en-GB" sz="1200" b="0" dirty="0"/>
                        <a:t>December target date. </a:t>
                      </a:r>
                    </a:p>
                    <a:p>
                      <a:pPr marL="228600" indent="-228600">
                        <a:buAutoNum type="arabicPeriod"/>
                      </a:pPr>
                      <a:r>
                        <a:rPr lang="en-GB" sz="12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Production &amp; Plant Infrastructure: </a:t>
                      </a:r>
                      <a:r>
                        <a:rPr lang="en-GB" sz="1200" b="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Mechanical splices (2) removal on 60CV01 conveyor belts</a:t>
                      </a:r>
                    </a:p>
                    <a:p>
                      <a:pPr marL="0" indent="0">
                        <a:buNone/>
                      </a:pPr>
                      <a:endParaRPr lang="en-GB" sz="1200" b="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365872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175" y="82296"/>
            <a:ext cx="121888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/>
              <a:t>High &amp; Low</a:t>
            </a:r>
          </a:p>
        </p:txBody>
      </p:sp>
    </p:spTree>
    <p:extLst>
      <p:ext uri="{BB962C8B-B14F-4D97-AF65-F5344CB8AC3E}">
        <p14:creationId xmlns:p14="http://schemas.microsoft.com/office/powerpoint/2010/main" val="2001841461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144483</TotalTime>
  <Words>154</Words>
  <Application>Microsoft Office PowerPoint</Application>
  <PresentationFormat>Widescreen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2_Office Theme</vt:lpstr>
      <vt:lpstr>Custom Design</vt:lpstr>
      <vt:lpstr>PowerPoint Presentation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Nigel Coetzee</dc:creator>
  <cp:lastModifiedBy>Sello Sease</cp:lastModifiedBy>
  <cp:revision>2435</cp:revision>
  <cp:lastPrinted>2024-05-14T13:45:52Z</cp:lastPrinted>
  <dcterms:created xsi:type="dcterms:W3CDTF">2019-02-12T06:39:46Z</dcterms:created>
  <dcterms:modified xsi:type="dcterms:W3CDTF">2025-12-08T04:16:29Z</dcterms:modified>
</cp:coreProperties>
</file>